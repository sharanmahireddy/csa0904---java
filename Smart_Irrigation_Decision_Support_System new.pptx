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1" r:id="rId14"/>
    <p:sldId id="272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70206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" y="155448"/>
            <a:ext cx="1371600" cy="1152144"/>
          </a:xfrm>
          <a:prstGeom prst="rect">
            <a:avLst/>
          </a:prstGeom>
        </p:spPr>
      </p:pic>
      <p:pic>
        <p:nvPicPr>
          <p:cNvPr id="3" name="Image 1" descr="assets/logo_right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6768" y="155448"/>
            <a:ext cx="1179576" cy="11064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80160" y="1051560"/>
            <a:ext cx="9628632" cy="1783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70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Smart Irrigation Decision Support System Using Simulated Soil Moisture and Weather Data</a:t>
            </a:r>
            <a:endParaRPr lang="en-US" sz="3400" dirty="0"/>
          </a:p>
        </p:txBody>
      </p:sp>
      <p:sp>
        <p:nvSpPr>
          <p:cNvPr id="5" name="Text 1"/>
          <p:cNvSpPr/>
          <p:nvPr/>
        </p:nvSpPr>
        <p:spPr>
          <a:xfrm>
            <a:off x="1051560" y="2971800"/>
            <a:ext cx="100858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Java-Based Rule-Driven Irrigation Simulation Project</a:t>
            </a:r>
          </a:p>
          <a:p>
            <a:pPr marL="0" indent="0" algn="ctr">
              <a:buNone/>
            </a:pPr>
            <a:endParaRPr lang="en-US" sz="2400" b="1" dirty="0">
              <a:solidFill>
                <a:srgbClr val="000000"/>
              </a:solidFill>
              <a:latin typeface="Times New Roman" pitchFamily="34" charset="0"/>
              <a:cs typeface="Times New Roman" pitchFamily="34" charset="-120"/>
            </a:endParaRPr>
          </a:p>
          <a:p>
            <a:pPr marL="0" indent="0" algn="ctr"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cs typeface="Times New Roman" pitchFamily="34" charset="-120"/>
              </a:rPr>
              <a:t>CSA 0904 – Java Programming</a:t>
            </a:r>
            <a:endParaRPr lang="en-US" sz="2400" dirty="0"/>
          </a:p>
        </p:txBody>
      </p:sp>
      <p:sp>
        <p:nvSpPr>
          <p:cNvPr id="6" name="Text 2"/>
          <p:cNvSpPr/>
          <p:nvPr/>
        </p:nvSpPr>
        <p:spPr>
          <a:xfrm>
            <a:off x="548640" y="452628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Presented By
O. Bhanu prakash Reddy 192372075</a:t>
            </a:r>
          </a:p>
          <a:p>
            <a:pPr marL="0" indent="0" algn="l">
              <a:buNone/>
            </a:pPr>
            <a:r>
              <a:rPr lang="en-US" sz="2000" b="1" dirty="0" err="1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M.Mahi</a:t>
            </a: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reddy</a:t>
            </a: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192324082</a:t>
            </a:r>
          </a:p>
          <a:p>
            <a:pPr marL="0" indent="0" algn="l">
              <a:buNone/>
            </a:pPr>
            <a:r>
              <a:rPr lang="en-US" sz="2000" b="1" dirty="0" err="1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K.Haneesh</a:t>
            </a: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192324084</a:t>
            </a:r>
          </a:p>
          <a:p>
            <a:pPr marL="0" indent="0" algn="l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Sri Hari 192372222</a:t>
            </a:r>
          </a:p>
          <a:p>
            <a:pPr marL="0" indent="0" algn="l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Antony Ajay 192524414</a:t>
            </a:r>
          </a:p>
          <a:p>
            <a:pPr marL="0" indent="0" algn="l">
              <a:buNone/>
            </a:pP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7589520" y="452628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Guided By
</a:t>
            </a:r>
            <a:endParaRPr lang="en-US" sz="2000" dirty="0"/>
          </a:p>
          <a:p>
            <a:pPr marL="0" indent="0" algn="l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cs typeface="Times New Roman" pitchFamily="34" charset="-120"/>
              </a:rPr>
              <a:t>Dr. Thalapathy Rajasekaran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" y="155448"/>
            <a:ext cx="1371600" cy="1152144"/>
          </a:xfrm>
          <a:prstGeom prst="rect">
            <a:avLst/>
          </a:prstGeom>
        </p:spPr>
      </p:pic>
      <p:pic>
        <p:nvPicPr>
          <p:cNvPr id="3" name="Image 1" descr="assets/logo_right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6768" y="155448"/>
            <a:ext cx="1179576" cy="11064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737360" y="201168"/>
            <a:ext cx="87142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70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4000" dirty="0"/>
          </a:p>
        </p:txBody>
      </p:sp>
      <p:sp>
        <p:nvSpPr>
          <p:cNvPr id="5" name="Text 1"/>
          <p:cNvSpPr/>
          <p:nvPr/>
        </p:nvSpPr>
        <p:spPr>
          <a:xfrm>
            <a:off x="770839" y="1554480"/>
            <a:ext cx="11125505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Efficient irrigation is essential for sustainable agriculture, yet many decisions are still made manually without real-time environmental data.</a:t>
            </a:r>
            <a:endParaRPr lang="en-US" sz="2000" dirty="0"/>
          </a:p>
          <a:p>
            <a:pPr marL="342900" indent="-342900" algn="l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Smart Irrigation Decision Support System</a:t>
            </a: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is a Java-based application that simulates soil moisture and weather conditions for demonstration purposes.</a:t>
            </a:r>
            <a:endParaRPr lang="en-US" sz="2000" dirty="0"/>
          </a:p>
          <a:p>
            <a:pPr marL="342900" indent="-342900" algn="l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system analyzes simulated environmental data using predefined decision rules to recommend irrigation actions.</a:t>
            </a:r>
            <a:endParaRPr lang="en-US" sz="2000" dirty="0"/>
          </a:p>
          <a:p>
            <a:pPr marL="342900" indent="-342900" algn="l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real IoT sensors are used; simulated data is generated to demonstrate the complete decision-making workflow.</a:t>
            </a:r>
            <a:endParaRPr lang="en-US" sz="2000" dirty="0"/>
          </a:p>
          <a:p>
            <a:pPr marL="342900" indent="-342900" algn="l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system provides recommendations, alerts, and historical reports to support informed irrigation decisions.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" y="155448"/>
            <a:ext cx="1371600" cy="1152144"/>
          </a:xfrm>
          <a:prstGeom prst="rect">
            <a:avLst/>
          </a:prstGeom>
        </p:spPr>
      </p:pic>
      <p:pic>
        <p:nvPicPr>
          <p:cNvPr id="3" name="Image 1" descr="assets/logo_right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6768" y="155448"/>
            <a:ext cx="1179576" cy="11064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737360" y="201168"/>
            <a:ext cx="87142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70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</a:t>
            </a:r>
            <a:endParaRPr lang="en-US" sz="4000" dirty="0"/>
          </a:p>
        </p:txBody>
      </p:sp>
      <p:sp>
        <p:nvSpPr>
          <p:cNvPr id="5" name="Text 1"/>
          <p:cNvSpPr/>
          <p:nvPr/>
        </p:nvSpPr>
        <p:spPr>
          <a:xfrm>
            <a:off x="1537142" y="1957892"/>
            <a:ext cx="11125505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design a Java-based decision support system for irrigation management.</a:t>
            </a:r>
            <a:endParaRPr lang="en-US" sz="1900" dirty="0"/>
          </a:p>
          <a:p>
            <a:pPr marL="342900" indent="-342900" algn="l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simulate soil moisture, temperature, humidity, and rainfall data for demonstration purposes.</a:t>
            </a:r>
            <a:endParaRPr lang="en-US" sz="1900" dirty="0"/>
          </a:p>
          <a:p>
            <a:pPr marL="342900" indent="-342900" algn="l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implement rule-based logic that determines irrigation requirement and water quantity.</a:t>
            </a:r>
            <a:endParaRPr lang="en-US" sz="1900" dirty="0"/>
          </a:p>
          <a:p>
            <a:pPr marL="342900" indent="-342900" algn="l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generate real-time recommendations and alerts based on simulated conditions.</a:t>
            </a:r>
            <a:endParaRPr lang="en-US" sz="1900" dirty="0"/>
          </a:p>
          <a:p>
            <a:pPr marL="342900" indent="-342900" algn="l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maintain irrigation history and generate summary reports for water usage analysis.</a:t>
            </a:r>
            <a:endParaRPr lang="en-US" sz="1900" dirty="0"/>
          </a:p>
          <a:p>
            <a:pPr marL="342900" indent="-342900" algn="l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demonstrate core Java OOP concepts through a practical agricultural use case.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" y="155448"/>
            <a:ext cx="1371600" cy="1152144"/>
          </a:xfrm>
          <a:prstGeom prst="rect">
            <a:avLst/>
          </a:prstGeom>
        </p:spPr>
      </p:pic>
      <p:pic>
        <p:nvPicPr>
          <p:cNvPr id="3" name="Image 1" descr="assets/logo_right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6768" y="155448"/>
            <a:ext cx="1179576" cy="11064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737360" y="201168"/>
            <a:ext cx="87142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70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</a:t>
            </a:r>
            <a:endParaRPr lang="en-US" sz="4000" dirty="0"/>
          </a:p>
        </p:txBody>
      </p:sp>
      <p:sp>
        <p:nvSpPr>
          <p:cNvPr id="5" name="Text 1"/>
          <p:cNvSpPr/>
          <p:nvPr/>
        </p:nvSpPr>
        <p:spPr>
          <a:xfrm>
            <a:off x="918577" y="1554480"/>
            <a:ext cx="11125505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Imagine a small farmer named Ramesh, who owns a few acres of farmland.</a:t>
            </a:r>
          </a:p>
          <a:p>
            <a:pPr marL="342900" indent="-342900" algn="l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Every morning, he walks through his fields, touches the soil with his hands, looks at the sky, and decides whether his crops need water.</a:t>
            </a:r>
          </a:p>
          <a:p>
            <a:pPr marL="342900" indent="-342900" algn="l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Some days he irrigates more than necessary, wasting valuable water. </a:t>
            </a:r>
          </a:p>
          <a:p>
            <a:pPr marL="342900" indent="-342900" algn="l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other days, he delays irrigation, causing the crops to experience water stress and reducing their yield.</a:t>
            </a:r>
          </a:p>
          <a:p>
            <a:pPr marL="342900" indent="-342900" algn="l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Ramesh hears about modern IoT-based smart irrigation systems, but the cost of sensors, controllers, and maintenance is far beyond what he can afford. </a:t>
            </a:r>
          </a:p>
          <a:p>
            <a:pPr marL="342900" indent="-342900" algn="l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 many small farmers, he continues to rely on experience and guesswork instead of data-driven decisions.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" y="155448"/>
            <a:ext cx="1371600" cy="1152144"/>
          </a:xfrm>
          <a:prstGeom prst="rect">
            <a:avLst/>
          </a:prstGeom>
        </p:spPr>
      </p:pic>
      <p:pic>
        <p:nvPicPr>
          <p:cNvPr id="3" name="Image 1" descr="assets/logo_right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6768" y="155448"/>
            <a:ext cx="1179576" cy="11064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837944" y="635508"/>
            <a:ext cx="87142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500" b="1" dirty="0">
                <a:solidFill>
                  <a:srgbClr val="0070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Existing System AND Proposed System</a:t>
            </a:r>
            <a:endParaRPr lang="en-US" sz="3500" dirty="0"/>
          </a:p>
          <a:p>
            <a:pPr marL="0" indent="0" algn="ctr">
              <a:buNone/>
            </a:pPr>
            <a:endParaRPr lang="en-US" sz="35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9BE4657-9599-44E2-8B31-460B72D1F2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29691" y="1504188"/>
            <a:ext cx="8132618" cy="503205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" y="155448"/>
            <a:ext cx="1371600" cy="1152144"/>
          </a:xfrm>
          <a:prstGeom prst="rect">
            <a:avLst/>
          </a:prstGeom>
        </p:spPr>
      </p:pic>
      <p:pic>
        <p:nvPicPr>
          <p:cNvPr id="3" name="Image 1" descr="assets/logo_right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6768" y="155448"/>
            <a:ext cx="1179576" cy="11064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737360" y="201168"/>
            <a:ext cx="87142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70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Architecture</a:t>
            </a:r>
            <a:endParaRPr lang="en-US" sz="3400" dirty="0"/>
          </a:p>
        </p:txBody>
      </p:sp>
      <p:sp>
        <p:nvSpPr>
          <p:cNvPr id="5" name="Text 1"/>
          <p:cNvSpPr/>
          <p:nvPr/>
        </p:nvSpPr>
        <p:spPr>
          <a:xfrm>
            <a:off x="641452" y="224028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70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641452" y="2743200"/>
            <a:ext cx="187452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0C0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41452" y="2743200"/>
            <a:ext cx="1874520" cy="1325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User &amp; Farm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Management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2515972" y="3241548"/>
            <a:ext cx="384048" cy="329184"/>
          </a:xfrm>
          <a:prstGeom prst="rightArrow">
            <a:avLst/>
          </a:prstGeom>
          <a:solidFill>
            <a:srgbClr val="595959"/>
          </a:solidFill>
          <a:ln/>
        </p:spPr>
      </p:sp>
      <p:sp>
        <p:nvSpPr>
          <p:cNvPr id="9" name="Text 5"/>
          <p:cNvSpPr/>
          <p:nvPr/>
        </p:nvSpPr>
        <p:spPr>
          <a:xfrm>
            <a:off x="2900020" y="224028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70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2900020" y="2743200"/>
            <a:ext cx="187452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0C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900020" y="2743200"/>
            <a:ext cx="1874520" cy="1325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Soil Moisture &amp;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Weather Simulation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774540" y="3241548"/>
            <a:ext cx="384048" cy="329184"/>
          </a:xfrm>
          <a:prstGeom prst="rightArrow">
            <a:avLst/>
          </a:prstGeom>
          <a:solidFill>
            <a:srgbClr val="595959"/>
          </a:solidFill>
          <a:ln/>
        </p:spPr>
      </p:sp>
      <p:sp>
        <p:nvSpPr>
          <p:cNvPr id="13" name="Text 9"/>
          <p:cNvSpPr/>
          <p:nvPr/>
        </p:nvSpPr>
        <p:spPr>
          <a:xfrm>
            <a:off x="5158588" y="224028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70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158588" y="2743200"/>
            <a:ext cx="187452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0C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158588" y="2743200"/>
            <a:ext cx="1874520" cy="1325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Irrigation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Decision Engine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7033108" y="3241548"/>
            <a:ext cx="384048" cy="329184"/>
          </a:xfrm>
          <a:prstGeom prst="rightArrow">
            <a:avLst/>
          </a:prstGeom>
          <a:solidFill>
            <a:srgbClr val="595959"/>
          </a:solidFill>
          <a:ln/>
        </p:spPr>
      </p:sp>
      <p:sp>
        <p:nvSpPr>
          <p:cNvPr id="17" name="Text 13"/>
          <p:cNvSpPr/>
          <p:nvPr/>
        </p:nvSpPr>
        <p:spPr>
          <a:xfrm>
            <a:off x="7417156" y="224028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70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7417156" y="2743200"/>
            <a:ext cx="187452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0C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417156" y="2743200"/>
            <a:ext cx="1874520" cy="1325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Recommendation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&amp; Alerts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9291676" y="3241548"/>
            <a:ext cx="384048" cy="329184"/>
          </a:xfrm>
          <a:prstGeom prst="rightArrow">
            <a:avLst/>
          </a:prstGeom>
          <a:solidFill>
            <a:srgbClr val="595959"/>
          </a:solidFill>
          <a:ln/>
        </p:spPr>
      </p:sp>
      <p:sp>
        <p:nvSpPr>
          <p:cNvPr id="21" name="Text 17"/>
          <p:cNvSpPr/>
          <p:nvPr/>
        </p:nvSpPr>
        <p:spPr>
          <a:xfrm>
            <a:off x="9675724" y="224028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70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9675724" y="2743200"/>
            <a:ext cx="187452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0C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9675724" y="2743200"/>
            <a:ext cx="1874520" cy="1325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Report Generation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&amp; History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533095" y="4617720"/>
            <a:ext cx="1112550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Each module hands its output to the next, forming a complete simulate-to-report irrigation pipeline.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" y="155448"/>
            <a:ext cx="1371600" cy="1152144"/>
          </a:xfrm>
          <a:prstGeom prst="rect">
            <a:avLst/>
          </a:prstGeom>
        </p:spPr>
      </p:pic>
      <p:pic>
        <p:nvPicPr>
          <p:cNvPr id="3" name="Image 1" descr="assets/logo_right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6768" y="155448"/>
            <a:ext cx="1179576" cy="11064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737360" y="201168"/>
            <a:ext cx="87142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70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1: User &amp; Farm Management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1274934"/>
              </p:ext>
            </p:extLst>
          </p:nvPr>
        </p:nvGraphicFramePr>
        <p:xfrm>
          <a:off x="604813" y="1597152"/>
          <a:ext cx="11125505" cy="507492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56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458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Aspect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Details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58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070C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Requirements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7000" marR="76200" marT="50800" marB="50800" anchor="ctr">
                    <a:lnL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•  User Registration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•  Login Authentication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•  Farm Information Storage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7000" marR="76200" marT="50800" marB="50800" anchor="ctr">
                    <a:lnL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58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070C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Task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7000" marR="76200" marT="50800" marB="50800" anchor="ctr">
                    <a:lnL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•  Register farmers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•  Store farm details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•  Update farm information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7000" marR="76200" marT="50800" marB="50800" anchor="ctr">
                    <a:lnL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58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070C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Parameters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7000" marR="76200" marT="50800" marB="50800" anchor="ctr">
                    <a:lnL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User ID, Name, Farm Area, Soil Type, Crop Type, Location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7000" marR="76200" marT="50800" marB="50800" anchor="ctr">
                    <a:lnL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58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070C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Outcome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7000" marR="76200" marT="50800" marB="50800" anchor="ctr">
                    <a:lnL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•  User account created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•  Farm information stored successfully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7000" marR="76200" marT="50800" marB="50800" anchor="ctr">
                    <a:lnL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58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070C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Techniques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7000" marR="76200" marT="50800" marB="50800" anchor="ctr">
                    <a:lnL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Java OOP, Encapsulation, Classes, Constructors, Collections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7000" marR="76200" marT="50800" marB="50800" anchor="ctr">
                    <a:lnL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" y="155448"/>
            <a:ext cx="1371600" cy="1152144"/>
          </a:xfrm>
          <a:prstGeom prst="rect">
            <a:avLst/>
          </a:prstGeom>
        </p:spPr>
      </p:pic>
      <p:pic>
        <p:nvPicPr>
          <p:cNvPr id="3" name="Image 1" descr="assets/logo_right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6768" y="155448"/>
            <a:ext cx="1179576" cy="11064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737360" y="201168"/>
            <a:ext cx="87142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70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2: Soil Moisture &amp; Weather Data Simulation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4550414"/>
              </p:ext>
            </p:extLst>
          </p:nvPr>
        </p:nvGraphicFramePr>
        <p:xfrm>
          <a:off x="604813" y="1581912"/>
          <a:ext cx="11125505" cy="507492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56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458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Aspect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Details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58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070C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Requirements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7000" marR="76200" marT="50800" marB="50800" anchor="ctr">
                    <a:lnL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•  Soil Moisture Simulator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•  Weather Generator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7000" marR="76200" marT="50800" marB="50800" anchor="ctr">
                    <a:lnL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58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070C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Task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7000" marR="76200" marT="50800" marB="50800" anchor="ctr">
                    <a:lnL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•  Generate simulated sensor values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•  Simulate weather conditions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7000" marR="76200" marT="50800" marB="50800" anchor="ctr">
                    <a:lnL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58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070C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Parameters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7000" marR="76200" marT="50800" marB="50800" anchor="ctr">
                    <a:lnL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Soil Moisture, Temperature, Humidity, Rainfall, Weather Condition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7000" marR="76200" marT="50800" marB="50800" anchor="ctr">
                    <a:lnL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58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070C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Outcome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7000" marR="76200" marT="50800" marB="50800" anchor="ctr">
                    <a:lnL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•  Simulated environmental dataset generated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7000" marR="76200" marT="50800" marB="50800" anchor="ctr">
                    <a:lnL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58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070C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Techniques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7000" marR="76200" marT="50800" marB="50800" anchor="ctr">
                    <a:lnL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Random Class, Arrays, ArrayList, Java Math Library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7000" marR="76200" marT="50800" marB="50800" anchor="ctr">
                    <a:lnL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" y="155448"/>
            <a:ext cx="1371600" cy="1152144"/>
          </a:xfrm>
          <a:prstGeom prst="rect">
            <a:avLst/>
          </a:prstGeom>
        </p:spPr>
      </p:pic>
      <p:pic>
        <p:nvPicPr>
          <p:cNvPr id="3" name="Image 1" descr="assets/logo_right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6768" y="155448"/>
            <a:ext cx="1179576" cy="11064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737360" y="201168"/>
            <a:ext cx="87142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70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3: Irrigation Decision Engine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6236042"/>
              </p:ext>
            </p:extLst>
          </p:nvPr>
        </p:nvGraphicFramePr>
        <p:xfrm>
          <a:off x="658601" y="1597152"/>
          <a:ext cx="11125505" cy="507492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56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458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Aspect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Details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58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070C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Requirements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7000" marR="76200" marT="50800" marB="50800" anchor="ctr">
                    <a:lnL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•  Decision Support Logic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7000" marR="76200" marT="50800" marB="50800" anchor="ctr">
                    <a:lnL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58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070C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Task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7000" marR="76200" marT="50800" marB="50800" anchor="ctr">
                    <a:lnL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•  Analyze simulated data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•  Decide irrigation requirement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7000" marR="76200" marT="50800" marB="50800" anchor="ctr">
                    <a:lnL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58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070C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Parameters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7000" marR="76200" marT="50800" marB="50800" anchor="ctr">
                    <a:lnL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Moisture Threshold, Rainfall Prediction, Crop Water Requirement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7000" marR="76200" marT="50800" marB="50800" anchor="ctr">
                    <a:lnL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58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070C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Outcome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7000" marR="76200" marT="50800" marB="50800" anchor="ctr">
                    <a:lnL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•  Irrigation ON/OFF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•  Required water quantity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7000" marR="76200" marT="50800" marB="50800" anchor="ctr">
                    <a:lnL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58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070C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Techniques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7000" marR="76200" marT="50800" marB="50800" anchor="ctr">
                    <a:lnL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Rule-Based Logic, If-Else, Java Methods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7000" marR="76200" marT="50800" marB="50800" anchor="ctr">
                    <a:lnL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" y="155448"/>
            <a:ext cx="1371600" cy="1152144"/>
          </a:xfrm>
          <a:prstGeom prst="rect">
            <a:avLst/>
          </a:prstGeom>
        </p:spPr>
      </p:pic>
      <p:pic>
        <p:nvPicPr>
          <p:cNvPr id="3" name="Image 1" descr="assets/logo_right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6768" y="155448"/>
            <a:ext cx="1179576" cy="11064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737360" y="201168"/>
            <a:ext cx="87142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70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4: Recommendation &amp; Alerts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8560514"/>
              </p:ext>
            </p:extLst>
          </p:nvPr>
        </p:nvGraphicFramePr>
        <p:xfrm>
          <a:off x="640672" y="1503382"/>
          <a:ext cx="11125505" cy="507492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56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458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Aspect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Details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58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070C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Requirements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7000" marR="76200" marT="50800" marB="50800" anchor="ctr">
                    <a:lnL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•  Recommendation System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•  Alert Generation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7000" marR="76200" marT="50800" marB="50800" anchor="ctr">
                    <a:lnL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58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070C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Task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7000" marR="76200" marT="50800" marB="50800" anchor="ctr">
                    <a:lnL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•  Recommend irrigation schedule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•  Notify users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7000" marR="76200" marT="50800" marB="50800" anchor="ctr">
                    <a:lnL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58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070C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Parameters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7000" marR="76200" marT="50800" marB="50800" anchor="ctr">
                    <a:lnL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Water Amount, Irrigation Time, Weather Alert, Soil Status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7000" marR="76200" marT="50800" marB="50800" anchor="ctr">
                    <a:lnL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58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070C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Outcome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7000" marR="76200" marT="50800" marB="50800" anchor="ctr">
                    <a:lnL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•  Recommendation displayed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•  Alert messages generated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7000" marR="76200" marT="50800" marB="50800" anchor="ctr">
                    <a:lnL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58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070C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Techniques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7000" marR="76200" marT="50800" marB="50800" anchor="ctr">
                    <a:lnL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String Handling, Exception Handling, Conditional Statements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7000" marR="76200" marT="50800" marB="50800" anchor="ctr">
                    <a:lnL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" y="155448"/>
            <a:ext cx="1371600" cy="1152144"/>
          </a:xfrm>
          <a:prstGeom prst="rect">
            <a:avLst/>
          </a:prstGeom>
        </p:spPr>
      </p:pic>
      <p:pic>
        <p:nvPicPr>
          <p:cNvPr id="3" name="Image 1" descr="assets/logo_right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6768" y="155448"/>
            <a:ext cx="1179576" cy="11064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737360" y="201168"/>
            <a:ext cx="87142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70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5: Report Generation &amp; History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9602256"/>
              </p:ext>
            </p:extLst>
          </p:nvPr>
        </p:nvGraphicFramePr>
        <p:xfrm>
          <a:off x="640671" y="1570258"/>
          <a:ext cx="11125505" cy="507492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56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458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Aspect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Details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58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070C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Requirements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7000" marR="76200" marT="50800" marB="50800" anchor="ctr">
                    <a:lnL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•  Data Storage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•  Report Generation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7000" marR="76200" marT="50800" marB="50800" anchor="ctr">
                    <a:lnL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58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070C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Task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7000" marR="76200" marT="50800" marB="50800" anchor="ctr">
                    <a:lnL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•  Store irrigation history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•  Generate reports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7000" marR="76200" marT="50800" marB="50800" anchor="ctr">
                    <a:lnL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58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070C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Parameters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7000" marR="76200" marT="50800" marB="50800" anchor="ctr">
                    <a:lnL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Date, Soil Moisture, Weather, Irrigation Decision, Water Usage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7000" marR="76200" marT="50800" marB="50800" anchor="ctr">
                    <a:lnL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58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070C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Outcome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7000" marR="76200" marT="50800" marB="50800" anchor="ctr">
                    <a:lnL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•  Daily history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•  Summary report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•  Water usage analysis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7000" marR="76200" marT="50800" marB="50800" anchor="ctr">
                    <a:lnL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58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070C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Techniques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7000" marR="76200" marT="50800" marB="50800" anchor="ctr">
                    <a:lnL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File Handling, Collections, Searching, Sorting</a:t>
                      </a:r>
                      <a:endParaRPr lang="en-US" sz="13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127000" marR="76200" marT="50800" marB="50800" anchor="ctr">
                    <a:lnL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" y="155448"/>
            <a:ext cx="1371600" cy="1152144"/>
          </a:xfrm>
          <a:prstGeom prst="rect">
            <a:avLst/>
          </a:prstGeom>
        </p:spPr>
      </p:pic>
      <p:pic>
        <p:nvPicPr>
          <p:cNvPr id="3" name="Image 1" descr="assets/logo_right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6768" y="155448"/>
            <a:ext cx="1179576" cy="11064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737360" y="201168"/>
            <a:ext cx="87142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70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Flow</a:t>
            </a:r>
            <a:endParaRPr lang="en-US" sz="3400" dirty="0"/>
          </a:p>
        </p:txBody>
      </p:sp>
      <p:sp>
        <p:nvSpPr>
          <p:cNvPr id="5" name="Shape 1"/>
          <p:cNvSpPr/>
          <p:nvPr/>
        </p:nvSpPr>
        <p:spPr>
          <a:xfrm>
            <a:off x="673456" y="1600200"/>
            <a:ext cx="242316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0C0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73456" y="1600200"/>
            <a:ext cx="242316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User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Registration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3096616" y="1924812"/>
            <a:ext cx="384048" cy="310896"/>
          </a:xfrm>
          <a:prstGeom prst="rightArrow">
            <a:avLst/>
          </a:prstGeom>
          <a:solidFill>
            <a:srgbClr val="595959"/>
          </a:solidFill>
          <a:ln/>
        </p:spPr>
      </p:sp>
      <p:sp>
        <p:nvSpPr>
          <p:cNvPr id="8" name="Shape 4"/>
          <p:cNvSpPr/>
          <p:nvPr/>
        </p:nvSpPr>
        <p:spPr>
          <a:xfrm>
            <a:off x="3480664" y="1600200"/>
            <a:ext cx="242316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0C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480664" y="1600200"/>
            <a:ext cx="242316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Farm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Details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903824" y="1924812"/>
            <a:ext cx="384048" cy="310896"/>
          </a:xfrm>
          <a:prstGeom prst="rightArrow">
            <a:avLst/>
          </a:prstGeom>
          <a:solidFill>
            <a:srgbClr val="595959"/>
          </a:solidFill>
          <a:ln/>
        </p:spPr>
      </p:sp>
      <p:sp>
        <p:nvSpPr>
          <p:cNvPr id="11" name="Shape 7"/>
          <p:cNvSpPr/>
          <p:nvPr/>
        </p:nvSpPr>
        <p:spPr>
          <a:xfrm>
            <a:off x="6287872" y="1600200"/>
            <a:ext cx="242316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0C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287872" y="1600200"/>
            <a:ext cx="242316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Generate Simulated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Soil &amp; Weather Data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711032" y="1924812"/>
            <a:ext cx="384048" cy="310896"/>
          </a:xfrm>
          <a:prstGeom prst="rightArrow">
            <a:avLst/>
          </a:prstGeom>
          <a:solidFill>
            <a:srgbClr val="595959"/>
          </a:solidFill>
          <a:ln/>
        </p:spPr>
      </p:sp>
      <p:sp>
        <p:nvSpPr>
          <p:cNvPr id="14" name="Shape 10"/>
          <p:cNvSpPr/>
          <p:nvPr/>
        </p:nvSpPr>
        <p:spPr>
          <a:xfrm>
            <a:off x="9095080" y="1600200"/>
            <a:ext cx="242316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0C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9095080" y="1600200"/>
            <a:ext cx="242316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Analyze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10151212" y="2697480"/>
            <a:ext cx="310896" cy="1600200"/>
          </a:xfrm>
          <a:prstGeom prst="downArrow">
            <a:avLst/>
          </a:prstGeom>
          <a:solidFill>
            <a:srgbClr val="595959"/>
          </a:solidFill>
          <a:ln/>
        </p:spPr>
      </p:sp>
      <p:sp>
        <p:nvSpPr>
          <p:cNvPr id="17" name="Shape 13"/>
          <p:cNvSpPr/>
          <p:nvPr/>
        </p:nvSpPr>
        <p:spPr>
          <a:xfrm>
            <a:off x="673456" y="4434840"/>
            <a:ext cx="242316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0C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73456" y="4434840"/>
            <a:ext cx="242316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8. Generate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Reports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3096616" y="4759452"/>
            <a:ext cx="384048" cy="310896"/>
          </a:xfrm>
          <a:prstGeom prst="leftArrow">
            <a:avLst/>
          </a:prstGeom>
          <a:solidFill>
            <a:srgbClr val="595959"/>
          </a:solidFill>
          <a:ln/>
        </p:spPr>
      </p:sp>
      <p:sp>
        <p:nvSpPr>
          <p:cNvPr id="20" name="Shape 16"/>
          <p:cNvSpPr/>
          <p:nvPr/>
        </p:nvSpPr>
        <p:spPr>
          <a:xfrm>
            <a:off x="3480664" y="4434840"/>
            <a:ext cx="242316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0C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480664" y="4434840"/>
            <a:ext cx="242316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7. Save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History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5903824" y="4759452"/>
            <a:ext cx="384048" cy="310896"/>
          </a:xfrm>
          <a:prstGeom prst="leftArrow">
            <a:avLst/>
          </a:prstGeom>
          <a:solidFill>
            <a:srgbClr val="595959"/>
          </a:solidFill>
          <a:ln/>
        </p:spPr>
      </p:sp>
      <p:sp>
        <p:nvSpPr>
          <p:cNvPr id="23" name="Shape 19"/>
          <p:cNvSpPr/>
          <p:nvPr/>
        </p:nvSpPr>
        <p:spPr>
          <a:xfrm>
            <a:off x="6287872" y="4434840"/>
            <a:ext cx="242316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0C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287872" y="4434840"/>
            <a:ext cx="242316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 Recommendation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&amp; Alerts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8711032" y="4759452"/>
            <a:ext cx="384048" cy="310896"/>
          </a:xfrm>
          <a:prstGeom prst="leftArrow">
            <a:avLst/>
          </a:prstGeom>
          <a:solidFill>
            <a:srgbClr val="595959"/>
          </a:solidFill>
          <a:ln/>
        </p:spPr>
      </p:sp>
      <p:sp>
        <p:nvSpPr>
          <p:cNvPr id="26" name="Shape 22"/>
          <p:cNvSpPr/>
          <p:nvPr/>
        </p:nvSpPr>
        <p:spPr>
          <a:xfrm>
            <a:off x="9095080" y="4434840"/>
            <a:ext cx="242316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0C0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9095080" y="4434840"/>
            <a:ext cx="242316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Irrigation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Decision Engine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" y="155448"/>
            <a:ext cx="1371600" cy="1152144"/>
          </a:xfrm>
          <a:prstGeom prst="rect">
            <a:avLst/>
          </a:prstGeom>
        </p:spPr>
      </p:pic>
      <p:pic>
        <p:nvPicPr>
          <p:cNvPr id="3" name="Image 1" descr="assets/logo_right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6768" y="155448"/>
            <a:ext cx="1179576" cy="11064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737360" y="201168"/>
            <a:ext cx="87142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70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5" name="Text 1"/>
          <p:cNvSpPr/>
          <p:nvPr/>
        </p:nvSpPr>
        <p:spPr>
          <a:xfrm>
            <a:off x="533095" y="1554480"/>
            <a:ext cx="11125505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Smart Irrigation Decision Support System demonstrates how Java can be used to build a rule-based agricultural decision-making tool.</a:t>
            </a:r>
            <a:endParaRPr lang="en-US" sz="2000" dirty="0"/>
          </a:p>
          <a:p>
            <a:pPr marL="342900" indent="-342900" algn="l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Simulated soil moisture and weather data enable a safe, hardware-free demonstration of irrigation logic.</a:t>
            </a:r>
            <a:endParaRPr lang="en-US" sz="2000" dirty="0"/>
          </a:p>
          <a:p>
            <a:pPr marL="342900" indent="-342900" algn="l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system combines data simulation, decision-making, recommendations, and reporting into a single cohesive application.</a:t>
            </a:r>
            <a:endParaRPr lang="en-US" sz="2000" dirty="0"/>
          </a:p>
          <a:p>
            <a:pPr marL="342900" indent="-342900" algn="l">
              <a:lnSpc>
                <a:spcPct val="150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serves as a strong foundation for future integration with real sensors and machine learning models.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Thank you Images - Free Download on Magnific (formerly Freepik)">
            <a:extLst>
              <a:ext uri="{FF2B5EF4-FFF2-40B4-BE49-F238E27FC236}">
                <a16:creationId xmlns:a16="http://schemas.microsoft.com/office/drawing/2014/main" id="{1D7E9980-CA69-4A05-B65E-FD5C78AA68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804</Words>
  <Application>Microsoft Office PowerPoint</Application>
  <PresentationFormat>Widescreen</PresentationFormat>
  <Paragraphs>166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DINESH KUMAR REDDY OBILI</cp:lastModifiedBy>
  <cp:revision>4</cp:revision>
  <dcterms:created xsi:type="dcterms:W3CDTF">2026-08-02T14:50:31Z</dcterms:created>
  <dcterms:modified xsi:type="dcterms:W3CDTF">2026-08-05T07:45:09Z</dcterms:modified>
</cp:coreProperties>
</file>